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77"/>
    <a:srgbClr val="FBA400"/>
    <a:srgbClr val="FFFEF7"/>
    <a:srgbClr val="FFF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81" autoAdjust="0"/>
  </p:normalViewPr>
  <p:slideViewPr>
    <p:cSldViewPr snapToGrid="0">
      <p:cViewPr varScale="1">
        <p:scale>
          <a:sx n="104" d="100"/>
          <a:sy n="104" d="100"/>
        </p:scale>
        <p:origin x="168" y="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8DB6F-D407-4DAD-8E07-F71A85896F6E}" type="datetimeFigureOut">
              <a:rPr lang="nl-NL" smtClean="0"/>
              <a:t>3-2-2026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FC6EB-00F9-4F26-856D-FED6C6A7B26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885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FC6EB-00F9-4F26-856D-FED6C6A7B264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1551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B4C759-8C62-86C9-3B17-92FACEE38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925" y="406400"/>
            <a:ext cx="645795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321D15F-B607-A2F4-7E5B-5C4C4A91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4266" y="3380783"/>
            <a:ext cx="5511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5970407-AC1E-7009-EC8F-8F2B816D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9266" y="6356350"/>
            <a:ext cx="1905000" cy="365125"/>
          </a:xfrm>
        </p:spPr>
        <p:txBody>
          <a:bodyPr/>
          <a:lstStyle/>
          <a:p>
            <a:fld id="{6D18414D-5A9A-49A8-AA48-E9E7CADEA260}" type="datetimeFigureOut">
              <a:rPr lang="nl-NL" smtClean="0"/>
              <a:t>3-2-2026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0B12CD7-1DFB-6FCC-4B46-04083296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4114800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ED0717B-501A-6AD2-FAD9-9FDB669F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356350"/>
            <a:ext cx="1159933" cy="365125"/>
          </a:xfrm>
        </p:spPr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4440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BFFC90-3395-0A72-C175-88454A10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F9D1A7-AFA3-2D0A-5016-573C0085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AEF1A98-39F2-BCFE-A768-C7C7269E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A3F0BBF-479B-F827-4D71-082BF9E1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6B33F-8770-9341-9E76-F7A43537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536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40951-16BA-65BD-FA23-BCD4B370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43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223BC3E-99ED-F861-2FB2-1837A862A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94332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4DFCE1-FF20-9098-F41B-CF8AE47B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27527C-339C-A319-5AB8-112FB83F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BC4418-4EF7-67F6-BB89-E7E06ACA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982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31BC1-8E05-7E69-F8A9-6DB02B03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ED6838-DD66-E35D-E7CC-C7808F5D6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8D7FE4F-8286-26BD-2F95-E57806EDF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0E1AED-39B0-79D9-7A2C-449973F5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254B2C4-BDF7-31CB-7DC9-B0843815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189A640-A58A-DEB2-536B-CD6A70C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889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2C2B3A-1D0A-5865-BE4A-04C18894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7864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16E3B1D-231C-B7E9-8ECC-869ECCA35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64418"/>
            <a:ext cx="5157787" cy="7142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07D4D88-D8C1-6D25-C28C-87B8DCECC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99305"/>
            <a:ext cx="5157787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B794A09-E8F5-29C8-7AAA-9CCB4BF45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33991"/>
            <a:ext cx="5183188" cy="7446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06865D-4034-733F-0C0B-2A32C8EDB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299305"/>
            <a:ext cx="5183188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615BE59-3F81-7BD5-4DB4-278648CEC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3-2-2026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E8CE4A8-74CC-EC89-649F-1C83DAD3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6CBCA2E-28ED-9718-15AD-1B3FFBE1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648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C4379-2683-9B5B-54BA-E3A63604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5F0E2A3-FBE9-DC25-394E-AE9A6C39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B400D92-2550-0867-9483-45ED646C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71C9D5D-E51E-CA71-9A90-C4EAB3B9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145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C5446D9-5DF5-F7C0-2628-90BC9A1C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3-2-2026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F65D153-6E89-D8A5-45CD-F5E3B829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4BE700-8736-DEBD-54F5-CD85EBED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929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DB1C2-788C-5E67-1126-186FE5DF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9A3E2AF-FE3E-C3CA-0E2C-9C0235AAD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72E7AF5-2E5A-4DE2-1F3D-EE384028A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4CCBAC4-7095-68D4-1F70-41489D11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9FD96D4-0AD8-6168-4590-B26CA93A3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DB30B07-5631-A050-3B75-0C5F5D00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8018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B1091-E1AE-DDD5-15E4-4FBF3510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76DA624-4C35-30ED-18A7-B6FB1563D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C0BB913-4F09-18DD-A1BA-8427E3841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13FF6D7-870A-E1AF-4B59-6101B009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49C309F-2101-E8AD-9159-474BFC22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CEE4378-BA38-4FB0-C906-B9BA8993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161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D5996-E7C8-5CF7-C2D3-B8748FD4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E21B26B-BA69-E9AD-7CFF-9F7765932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4E0D85-1929-B19A-7CEE-1C5F655E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F32821-6BD5-551A-0269-B059B749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0D5A6D-2538-85A7-38BB-7F795A3E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944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B48FD73-4D0B-A3A3-2319-42AE9E726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365125"/>
            <a:ext cx="2671638" cy="545523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1C23176-7D84-A884-661D-CD5DEA048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4056" y="365125"/>
            <a:ext cx="8340918" cy="545523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AFAA59-F7D1-5531-36D8-900F9C11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06688D-6FDD-6771-2106-A56DB363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8D3E2E9-404E-C081-A941-A3629B30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660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35000">
              <a:srgbClr val="FFFEF3"/>
            </a:gs>
            <a:gs pos="62000">
              <a:srgbClr val="FFFEF7"/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CF1BF85-4B6C-F008-1B3C-11B47EC5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411684-1A7E-DFCF-F13E-B761FD6B0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7150" y="63103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8414D-5A9A-49A8-AA48-E9E7CADEA260}" type="datetimeFigureOut">
              <a:rPr lang="nl-NL" smtClean="0"/>
              <a:t>3-2-2026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B745CD-F00A-8626-6B75-9275E7713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4200" y="6310311"/>
            <a:ext cx="454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40EA63F-C77B-C305-2060-ECC251682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4500" y="6310312"/>
            <a:ext cx="1384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7" name="Picture 2" descr="Nova College zorgopleidingen inspireren studenten met casussen | BureauTekst">
            <a:extLst>
              <a:ext uri="{FF2B5EF4-FFF2-40B4-BE49-F238E27FC236}">
                <a16:creationId xmlns:a16="http://schemas.microsoft.com/office/drawing/2014/main" id="{E15B2672-438A-D562-D6EE-438FCB4005E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6" b="38682"/>
          <a:stretch>
            <a:fillRect/>
          </a:stretch>
        </p:blipFill>
        <p:spPr bwMode="auto">
          <a:xfrm>
            <a:off x="-186927" y="6217427"/>
            <a:ext cx="2664618" cy="64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DBB024C6-06AD-9F73-4AE8-0D072837629D}"/>
              </a:ext>
            </a:extLst>
          </p:cNvPr>
          <p:cNvSpPr/>
          <p:nvPr userDrawn="1"/>
        </p:nvSpPr>
        <p:spPr>
          <a:xfrm>
            <a:off x="230715" y="-55031"/>
            <a:ext cx="270000" cy="5782734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66087544-C7D3-7A9A-4800-2D515179E7A0}"/>
              </a:ext>
            </a:extLst>
          </p:cNvPr>
          <p:cNvSpPr/>
          <p:nvPr userDrawn="1"/>
        </p:nvSpPr>
        <p:spPr>
          <a:xfrm rot="16200000">
            <a:off x="6427197" y="294152"/>
            <a:ext cx="270000" cy="11530543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Cirkel: leeg 9">
            <a:extLst>
              <a:ext uri="{FF2B5EF4-FFF2-40B4-BE49-F238E27FC236}">
                <a16:creationId xmlns:a16="http://schemas.microsoft.com/office/drawing/2014/main" id="{4EF2F36C-85C6-F227-4C7C-C834D410BF31}"/>
              </a:ext>
            </a:extLst>
          </p:cNvPr>
          <p:cNvSpPr/>
          <p:nvPr userDrawn="1"/>
        </p:nvSpPr>
        <p:spPr>
          <a:xfrm>
            <a:off x="228598" y="5218536"/>
            <a:ext cx="991659" cy="987389"/>
          </a:xfrm>
          <a:prstGeom prst="donut">
            <a:avLst>
              <a:gd name="adj" fmla="val 27560"/>
            </a:avLst>
          </a:prstGeom>
          <a:gradFill flip="none" rotWithShape="1">
            <a:gsLst>
              <a:gs pos="0">
                <a:srgbClr val="FBA400">
                  <a:shade val="30000"/>
                  <a:satMod val="115000"/>
                </a:srgbClr>
              </a:gs>
              <a:gs pos="50000">
                <a:srgbClr val="FBA400">
                  <a:shade val="67500"/>
                  <a:satMod val="115000"/>
                </a:srgbClr>
              </a:gs>
              <a:gs pos="100000">
                <a:srgbClr val="FBA400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FFD04524-8452-D704-99A9-33F20CC99B04}"/>
              </a:ext>
            </a:extLst>
          </p:cNvPr>
          <p:cNvSpPr/>
          <p:nvPr userDrawn="1"/>
        </p:nvSpPr>
        <p:spPr>
          <a:xfrm>
            <a:off x="503358" y="4862527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103C7D41-C72B-C057-5586-DAF1E5937DA5}"/>
              </a:ext>
            </a:extLst>
          </p:cNvPr>
          <p:cNvSpPr/>
          <p:nvPr userDrawn="1"/>
        </p:nvSpPr>
        <p:spPr>
          <a:xfrm>
            <a:off x="764117" y="5107449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66F715E-90D2-E02A-35F3-028366BB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72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66458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DummyMeneer/Mobile-Developmen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shorts/vYsLR1U_j5c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9C727-01AA-4DB2-26AE-DD2FEFCD1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Mobile development – les 1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32F1F9D-91AC-244B-A75C-5DE4D060B5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Android studio, toetsing, eerste applicatie en testen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F87E1871-1BBC-427D-B863-4D0524944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769965" y="3398790"/>
            <a:ext cx="2778420" cy="277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76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467E5-39E6-9E7F-1C58-66163297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Programma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E110306-4AAB-9607-E18E-ACBAC34BD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Introductie</a:t>
            </a:r>
          </a:p>
          <a:p>
            <a:r>
              <a:rPr lang="nl-NL" dirty="0"/>
              <a:t>Android studio</a:t>
            </a:r>
          </a:p>
          <a:p>
            <a:r>
              <a:rPr lang="nl-NL" dirty="0"/>
              <a:t>Toetsing</a:t>
            </a:r>
          </a:p>
          <a:p>
            <a:r>
              <a:rPr lang="nl-NL" dirty="0"/>
              <a:t>Eerste applicatie</a:t>
            </a:r>
          </a:p>
          <a:p>
            <a:r>
              <a:rPr lang="nl-NL" dirty="0"/>
              <a:t>Eerste elementen</a:t>
            </a:r>
          </a:p>
          <a:p>
            <a:r>
              <a:rPr lang="nl-NL" dirty="0"/>
              <a:t>Testen</a:t>
            </a:r>
          </a:p>
        </p:txBody>
      </p:sp>
    </p:spTree>
    <p:extLst>
      <p:ext uri="{BB962C8B-B14F-4D97-AF65-F5344CB8AC3E}">
        <p14:creationId xmlns:p14="http://schemas.microsoft.com/office/powerpoint/2010/main" val="396976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AA1F7A-2040-453B-FEF3-11D2F23E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Waarom Android?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22AF365-C38E-9E37-C01C-A5828E755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Betere development kit</a:t>
            </a:r>
          </a:p>
          <a:p>
            <a:r>
              <a:rPr lang="nl-NL" dirty="0"/>
              <a:t>Minder kosten per upload</a:t>
            </a:r>
          </a:p>
          <a:p>
            <a:r>
              <a:rPr lang="nl-NL" dirty="0"/>
              <a:t>Meer opensource</a:t>
            </a:r>
          </a:p>
          <a:p>
            <a:r>
              <a:rPr lang="nl-NL" dirty="0"/>
              <a:t>Beter </a:t>
            </a:r>
            <a:r>
              <a:rPr lang="nl-NL" dirty="0" err="1"/>
              <a:t>testbaar</a:t>
            </a:r>
            <a:endParaRPr lang="nl-NL" dirty="0"/>
          </a:p>
          <a:p>
            <a:r>
              <a:rPr lang="nl-NL" dirty="0"/>
              <a:t>Makkelijker van Android naar </a:t>
            </a:r>
            <a:r>
              <a:rPr lang="nl-NL" dirty="0" err="1"/>
              <a:t>apple</a:t>
            </a:r>
            <a:r>
              <a:rPr lang="nl-NL" dirty="0"/>
              <a:t> dan andersom</a:t>
            </a:r>
          </a:p>
        </p:txBody>
      </p:sp>
      <p:pic>
        <p:nvPicPr>
          <p:cNvPr id="1026" name="Picture 2" descr="100+] Apple Eating Android Wallpapers | Wallpapers.com">
            <a:extLst>
              <a:ext uri="{FF2B5EF4-FFF2-40B4-BE49-F238E27FC236}">
                <a16:creationId xmlns:a16="http://schemas.microsoft.com/office/drawing/2014/main" id="{132B0082-48DB-3D46-FEE0-3701EE1DAD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33" t="19953" r="25467" b="17063"/>
          <a:stretch>
            <a:fillRect/>
          </a:stretch>
        </p:blipFill>
        <p:spPr bwMode="auto">
          <a:xfrm>
            <a:off x="8953757" y="2770976"/>
            <a:ext cx="3238244" cy="316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2250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FC73C-A0C3-45E0-14C8-4795D13ED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Android studio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2C3327B-CE7E-B887-4EDE-0B909E71E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Instaleer Android studio Otter (Oudere versies werken niet altijd)</a:t>
            </a:r>
          </a:p>
          <a:p>
            <a:r>
              <a:rPr lang="nl-NL" dirty="0"/>
              <a:t>Dit kan even duren dus zet het nu alvast aan.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979B0DF-D00B-24DB-A7E2-070F8DCB8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769965" y="3398790"/>
            <a:ext cx="2778420" cy="277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877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AEABB0-6D66-F4E9-7A5D-49C6CEA5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Toetsing – 2 </a:t>
            </a:r>
            <a:r>
              <a:rPr lang="nl-NL" dirty="0" err="1"/>
              <a:t>delig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2AF0ADC-8849-6258-9F6E-DA6FE9E86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Individueel –  App met features van de criteria lijst</a:t>
            </a:r>
          </a:p>
          <a:p>
            <a:pPr lvl="1"/>
            <a:r>
              <a:rPr lang="nl-NL" dirty="0"/>
              <a:t>Dit mag een showcase app zijn waar je er geen geheel van maakt.</a:t>
            </a:r>
          </a:p>
          <a:p>
            <a:pPr marL="0" indent="0">
              <a:buNone/>
            </a:pPr>
            <a:endParaRPr lang="nl-NL" dirty="0"/>
          </a:p>
          <a:p>
            <a:r>
              <a:rPr lang="nl-NL" dirty="0"/>
              <a:t>Groepsopdracht – App met doeleinde</a:t>
            </a:r>
          </a:p>
          <a:p>
            <a:pPr lvl="1"/>
            <a:r>
              <a:rPr lang="nl-NL" dirty="0"/>
              <a:t>Groepjes vormen in week 1 en doorgeven in week 2</a:t>
            </a:r>
          </a:p>
          <a:p>
            <a:pPr lvl="1"/>
            <a:r>
              <a:rPr lang="nl-NL" dirty="0"/>
              <a:t>Pitchen in week 4</a:t>
            </a:r>
          </a:p>
          <a:p>
            <a:pPr lvl="1"/>
            <a:r>
              <a:rPr lang="nl-NL" dirty="0"/>
              <a:t>Opleveren in week 9</a:t>
            </a:r>
          </a:p>
          <a:p>
            <a:pPr lvl="1"/>
            <a:r>
              <a:rPr lang="nl-NL" dirty="0"/>
              <a:t>Eventuele showcase van apps in week 10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7131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2CE0FC-FBFB-C8D3-80DC-1E85C402E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Je eerste applicatie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689183A-C5BC-0E35-6083-7D8F03781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5094" cy="3872442"/>
          </a:xfrm>
        </p:spPr>
        <p:txBody>
          <a:bodyPr>
            <a:normAutofit lnSpcReduction="10000"/>
          </a:bodyPr>
          <a:lstStyle/>
          <a:p>
            <a:r>
              <a:rPr lang="nl-NL" dirty="0"/>
              <a:t>Template staat op GitHub:</a:t>
            </a:r>
          </a:p>
          <a:p>
            <a:r>
              <a:rPr lang="nl-NL" dirty="0">
                <a:hlinkClick r:id="rId2"/>
              </a:rPr>
              <a:t>https://github.com/DummyMeneer/Mobile-Development</a:t>
            </a:r>
            <a:endParaRPr lang="nl-NL" dirty="0"/>
          </a:p>
          <a:p>
            <a:endParaRPr lang="nl-NL" dirty="0"/>
          </a:p>
          <a:p>
            <a:r>
              <a:rPr lang="nl-NL" dirty="0"/>
              <a:t>Basic Views Activity OF Empty Views Activity</a:t>
            </a:r>
          </a:p>
          <a:p>
            <a:endParaRPr lang="nl-NL" dirty="0"/>
          </a:p>
          <a:p>
            <a:r>
              <a:rPr lang="nl-NL" dirty="0"/>
              <a:t>De andere zijn voor andere doeleindes</a:t>
            </a:r>
          </a:p>
        </p:txBody>
      </p:sp>
      <p:pic>
        <p:nvPicPr>
          <p:cNvPr id="5" name="Afbeelding 4" descr="Afbeelding met tekst, schermopname, software, Computerpictogram&#10;&#10;Door AI gegenereerde inhoud is mogelijk onjuist.">
            <a:extLst>
              <a:ext uri="{FF2B5EF4-FFF2-40B4-BE49-F238E27FC236}">
                <a16:creationId xmlns:a16="http://schemas.microsoft.com/office/drawing/2014/main" id="{E8E75D5D-A627-9284-419C-A3091A0E3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294" y="0"/>
            <a:ext cx="5858706" cy="3960256"/>
          </a:xfrm>
          <a:prstGeom prst="rect">
            <a:avLst/>
          </a:prstGeom>
        </p:spPr>
      </p:pic>
      <p:sp>
        <p:nvSpPr>
          <p:cNvPr id="6" name="Ovaal 5">
            <a:extLst>
              <a:ext uri="{FF2B5EF4-FFF2-40B4-BE49-F238E27FC236}">
                <a16:creationId xmlns:a16="http://schemas.microsoft.com/office/drawing/2014/main" id="{5A542FF5-5076-9F51-8683-8C61524E74A8}"/>
              </a:ext>
            </a:extLst>
          </p:cNvPr>
          <p:cNvSpPr/>
          <p:nvPr/>
        </p:nvSpPr>
        <p:spPr>
          <a:xfrm>
            <a:off x="7959576" y="1221246"/>
            <a:ext cx="2853664" cy="235043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AEE59359-60CA-0233-3C42-B4AF86E63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769965" y="3398790"/>
            <a:ext cx="2778420" cy="277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136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361AA1-35B4-1F96-C093-1314B219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Applicatie instellingen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F97A6FD-6AB9-C64A-A6B7-A29E8DBB8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66888"/>
          </a:xfrm>
        </p:spPr>
        <p:txBody>
          <a:bodyPr>
            <a:normAutofit fontScale="85000" lnSpcReduction="10000"/>
          </a:bodyPr>
          <a:lstStyle/>
          <a:p>
            <a:r>
              <a:rPr lang="nl-NL" dirty="0"/>
              <a:t>Zorg ervoor dat je Java hebt als taal en API 33 (Tiramisu)</a:t>
            </a:r>
          </a:p>
          <a:p>
            <a:r>
              <a:rPr lang="nl-NL" dirty="0"/>
              <a:t>Een nieuwere </a:t>
            </a:r>
            <a:r>
              <a:rPr lang="nl-NL" dirty="0" err="1"/>
              <a:t>android</a:t>
            </a:r>
            <a:r>
              <a:rPr lang="nl-NL" dirty="0"/>
              <a:t> versie kan maar runt misschien niet op je telefoon</a:t>
            </a:r>
          </a:p>
        </p:txBody>
      </p:sp>
      <p:pic>
        <p:nvPicPr>
          <p:cNvPr id="5" name="Afbeelding 4" descr="Afbeelding met schermopname, tekst, Lettertype, software&#10;&#10;Door AI gegenereerde inhoud is mogelijk onjuist.">
            <a:extLst>
              <a:ext uri="{FF2B5EF4-FFF2-40B4-BE49-F238E27FC236}">
                <a16:creationId xmlns:a16="http://schemas.microsoft.com/office/drawing/2014/main" id="{01F02E31-28C9-A0F0-9ECE-1510C1334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18" y="2892513"/>
            <a:ext cx="11697082" cy="303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657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113C6A-D924-8945-0593-2A1459CE0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Elementen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23A4CB2-7792-B49F-B91C-CEE105589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Elementen voor Android zijn vergelijkbaar met HTML elementen</a:t>
            </a:r>
          </a:p>
          <a:p>
            <a:r>
              <a:rPr lang="nl-NL" dirty="0"/>
              <a:t>Veel kant en klaar</a:t>
            </a:r>
          </a:p>
          <a:p>
            <a:r>
              <a:rPr lang="nl-NL" dirty="0"/>
              <a:t>Decoratie is ingebouwd</a:t>
            </a:r>
          </a:p>
          <a:p>
            <a:r>
              <a:rPr lang="nl-NL" dirty="0"/>
              <a:t>Aanpasbaar via Code of via Design </a:t>
            </a:r>
            <a:r>
              <a:rPr lang="nl-NL" dirty="0" err="1"/>
              <a:t>window</a:t>
            </a:r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A159D3D5-9F5C-BD05-FAC8-576AD10BF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769965" y="3398790"/>
            <a:ext cx="2778420" cy="277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874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761BB7-EBE4-B3D6-65C1-8FF1672F9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Testen - Emulator en Telefoon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0304C51-8812-702B-EEB3-7AAE0C09A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Emulator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A43CA679-7D32-4745-2E41-E468AFB751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>
                <a:solidFill>
                  <a:srgbClr val="00B050"/>
                </a:solidFill>
              </a:rPr>
              <a:t>Staat op je laptop en kan je snel opstarten</a:t>
            </a:r>
          </a:p>
          <a:p>
            <a:r>
              <a:rPr lang="nl-NL" dirty="0">
                <a:solidFill>
                  <a:srgbClr val="00B050"/>
                </a:solidFill>
              </a:rPr>
              <a:t>Je kan meerdere emulators gebruiken</a:t>
            </a:r>
          </a:p>
          <a:p>
            <a:r>
              <a:rPr lang="nl-NL" dirty="0">
                <a:solidFill>
                  <a:srgbClr val="FF0000"/>
                </a:solidFill>
              </a:rPr>
              <a:t>Sommige functies zijn slechter te testen (GPS bijvoorbeeld)</a:t>
            </a:r>
          </a:p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815C97F4-8AB5-8A4F-6A2B-AB4E7AF954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Telefoon</a:t>
            </a: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3E3C50A2-2815-3FC3-259F-452CC19A6BF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nl-NL" dirty="0">
                <a:solidFill>
                  <a:srgbClr val="00B050"/>
                </a:solidFill>
              </a:rPr>
              <a:t>Meer functionaliteiten zijn </a:t>
            </a:r>
            <a:r>
              <a:rPr lang="nl-NL" dirty="0" err="1">
                <a:solidFill>
                  <a:srgbClr val="00B050"/>
                </a:solidFill>
              </a:rPr>
              <a:t>testbaar</a:t>
            </a:r>
            <a:endParaRPr lang="nl-NL" dirty="0">
              <a:solidFill>
                <a:srgbClr val="00B050"/>
              </a:solidFill>
            </a:endParaRPr>
          </a:p>
          <a:p>
            <a:r>
              <a:rPr lang="nl-NL" dirty="0">
                <a:solidFill>
                  <a:srgbClr val="00B050"/>
                </a:solidFill>
              </a:rPr>
              <a:t>Gaaf om een eigen app op je telefoon te hebben</a:t>
            </a:r>
          </a:p>
          <a:p>
            <a:r>
              <a:rPr lang="nl-NL" dirty="0">
                <a:solidFill>
                  <a:srgbClr val="FF0000"/>
                </a:solidFill>
              </a:rPr>
              <a:t>Je moet je telefoon iedere keer eraan hangen</a:t>
            </a:r>
          </a:p>
          <a:p>
            <a:r>
              <a:rPr lang="nl-NL" dirty="0">
                <a:solidFill>
                  <a:srgbClr val="FF0000"/>
                </a:solidFill>
              </a:rPr>
              <a:t>Beveiliging van je telefoon moet (deels) uit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28619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51A1BE-225F-0C85-8F83-A470536BF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Emulator installeren en opstarten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027B8BC-CD6D-F4EE-D8A2-FA9B87B15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Dit doe je door de app te runnen</a:t>
            </a:r>
          </a:p>
          <a:p>
            <a:r>
              <a:rPr lang="nl-NL" dirty="0"/>
              <a:t>Een nieuwe emulator kan je aanmaken via de device manager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85ACBB64-F117-19B9-8901-C4ECFD9B8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769965" y="3398790"/>
            <a:ext cx="2778420" cy="277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2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16E41F-398B-CC93-6793-5CE9147E9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Telefoon testen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28FC2EB-6C9B-BFA1-51D1-EAFA6AEBB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Je moet je beveiliging deels uitzetten door in </a:t>
            </a:r>
            <a:r>
              <a:rPr lang="nl-NL" dirty="0" err="1"/>
              <a:t>developer</a:t>
            </a:r>
            <a:r>
              <a:rPr lang="nl-NL" dirty="0"/>
              <a:t> modes te gaan.</a:t>
            </a:r>
          </a:p>
          <a:p>
            <a:r>
              <a:rPr lang="nl-NL" dirty="0"/>
              <a:t>Zie: </a:t>
            </a:r>
            <a:r>
              <a:rPr lang="nl-NL" dirty="0">
                <a:hlinkClick r:id="rId2"/>
              </a:rPr>
              <a:t>https://www.youtube.com/shorts/vYsLR1U_j5c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82071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BFB078-3986-4025-A849-779C63C3A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Opdracht 1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2B4AD2E-6D5E-9D29-5DBA-B4F704631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Maak een Button aan</a:t>
            </a:r>
          </a:p>
          <a:p>
            <a:r>
              <a:rPr lang="nl-NL" dirty="0"/>
              <a:t>Maak een Tekstblok aan</a:t>
            </a:r>
          </a:p>
          <a:p>
            <a:r>
              <a:rPr lang="nl-NL" dirty="0"/>
              <a:t>Maak een input veld aan</a:t>
            </a:r>
          </a:p>
          <a:p>
            <a:r>
              <a:rPr lang="nl-NL" dirty="0"/>
              <a:t>Koppel de button aan een functie</a:t>
            </a:r>
          </a:p>
          <a:p>
            <a:r>
              <a:rPr lang="nl-NL" dirty="0"/>
              <a:t>Zorg ervoor dat als je iets invoert in het invoer veld en dan op de button drukt dat je de input laat zien in het tekstblok.</a:t>
            </a:r>
          </a:p>
        </p:txBody>
      </p:sp>
    </p:spTree>
    <p:extLst>
      <p:ext uri="{BB962C8B-B14F-4D97-AF65-F5344CB8AC3E}">
        <p14:creationId xmlns:p14="http://schemas.microsoft.com/office/powerpoint/2010/main" val="4111882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8AEF2-B1E0-DC5C-29EF-6DC8FC82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Volgende week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3088DE-78F2-873D-A6F7-351239A77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Error handling</a:t>
            </a:r>
          </a:p>
          <a:p>
            <a:r>
              <a:rPr lang="en-GB" dirty="0"/>
              <a:t>Toasts</a:t>
            </a:r>
          </a:p>
          <a:p>
            <a:r>
              <a:rPr lang="en-GB" dirty="0"/>
              <a:t>Layouts</a:t>
            </a:r>
          </a:p>
          <a:p>
            <a:r>
              <a:rPr lang="en-GB" dirty="0"/>
              <a:t>Media</a:t>
            </a:r>
          </a:p>
          <a:p>
            <a:pPr lvl="1"/>
            <a:r>
              <a:rPr lang="en-GB" dirty="0"/>
              <a:t>Images</a:t>
            </a:r>
          </a:p>
          <a:p>
            <a:pPr lvl="1"/>
            <a:r>
              <a:rPr lang="en-GB" dirty="0" err="1"/>
              <a:t>Muziek</a:t>
            </a:r>
            <a:endParaRPr lang="en-GB" dirty="0"/>
          </a:p>
          <a:p>
            <a:pPr lvl="1"/>
            <a:r>
              <a:rPr lang="nl-NL" dirty="0" err="1"/>
              <a:t>Videos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8102168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e2" id="{9E7AAD1C-B155-4896-B55B-3944D7133965}" vid="{4C889715-0D36-4A12-BFED-915D686707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Nova1</Template>
  <TotalTime>0</TotalTime>
  <Words>381</Words>
  <Application>Microsoft Office PowerPoint</Application>
  <PresentationFormat>Breedbeeld</PresentationFormat>
  <Paragraphs>74</Paragraphs>
  <Slides>13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Kantoorthema</vt:lpstr>
      <vt:lpstr>Mobile development – les 1</vt:lpstr>
      <vt:lpstr>Programma</vt:lpstr>
      <vt:lpstr>Waarom Android?</vt:lpstr>
      <vt:lpstr>Android studio</vt:lpstr>
      <vt:lpstr>Toetsing – 2 delig</vt:lpstr>
      <vt:lpstr>Je eerste applicatie</vt:lpstr>
      <vt:lpstr>Applicatie instellingen</vt:lpstr>
      <vt:lpstr>Elementen</vt:lpstr>
      <vt:lpstr>Testen - Emulator en Telefoon</vt:lpstr>
      <vt:lpstr>Emulator installeren en opstarten</vt:lpstr>
      <vt:lpstr>Telefoon testen</vt:lpstr>
      <vt:lpstr>Opdracht 1</vt:lpstr>
      <vt:lpstr>Volgende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Erwin van Hunnik</dc:creator>
  <cp:lastModifiedBy>Erwin van Hunnik</cp:lastModifiedBy>
  <cp:revision>6</cp:revision>
  <dcterms:created xsi:type="dcterms:W3CDTF">2026-02-02T17:12:25Z</dcterms:created>
  <dcterms:modified xsi:type="dcterms:W3CDTF">2026-02-03T11:15:49Z</dcterms:modified>
</cp:coreProperties>
</file>